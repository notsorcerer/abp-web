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D84040"/>
                </a:solidFill>
                <a:latin typeface="Calibri"/>
              </a:defRPr>
            </a:pPr>
            <a:r>
              <a:t>LiquidPedia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4688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D1616"/>
                </a:solidFill>
                <a:latin typeface="Calibri"/>
              </a:defRPr>
            </a:pPr>
            <a:r>
              <a:t>Web E-Commerce Liquid &amp; Vape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Analisis dan Perancangan Perangkat Lunak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Informatika — Telkom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5029200"/>
            <a:ext cx="1828800" cy="54864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Dosen: 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Kelompok: 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Alasan / Latar Belakang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66928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Masalah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Solusi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Penjualan liquid &amp; vape masih manual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(WhatsApp / offline)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Platform e-commerce web khusus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liquid &amp; vape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Pelanggan sulit membandingkan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produk dan harga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Katalog produk dengan filter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kategori + search bar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Tidak ada sistem pemesanan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yang terstruktur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Keranjang belanja session-based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+ checkout dengan location picker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Admin kesulitan mengelola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produk dan pesanan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Panel admin dengan CRUD produk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+ dashboard statistik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Tujuan: Menyediakan platform e-commerce khusus liquid dan vape berbasis web dengan dua peran pengguna (Customer &amp; Admin)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Tech Stack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498079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Teknologi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Laravel 13, PHP 8.3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MySQL / MariaDB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Tailwind CSS v4, Vite, Blade Templating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Maps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Leaflet.js + OpenStreetMap + Nominatim (gratis, tanpa API key)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Laravel Auth (session-based)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Cart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Session Database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Arsitektur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MVC (Model-View-Controller)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Aktor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498079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Aktor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Peran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(Pelanggan)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Registrasi, login, melihat &amp; menyaring produk,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mengelola keranjang, checkout dengan location picker,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konfirmasi pembayaran, riwayat pesanan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(Pengelola Toko)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Login panel khusus (is_admin = true),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dashboard statistik, CRUD produk &amp; kategori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Use Case Diagram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474720"/>
                <a:gridCol w="182880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Kode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Aktor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Registrasi Akun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UC-02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Login Akun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Melihat &amp; Menyaring Produk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UC-04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Melihat Detail Produk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Mengelola Keranjang Belanja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UC-06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Melakukan Checkout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Melihat Konfirmasi Pembayaran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UC-08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Melihat Riwayat Pesanan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Login &amp; Dashboard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UC-10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Mengelola Produk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98079" y="13716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84040"/>
                </a:solidFill>
                <a:latin typeface="Calibri"/>
              </a:defRPr>
            </a:pPr>
            <a:r>
              <a:t>Relasi &lt;&lt;include&gt;&gt;: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743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D1616"/>
                </a:solidFill>
                <a:latin typeface="Calibri"/>
              </a:defRPr>
            </a:pPr>
            <a:r>
              <a:t>UC-06 &lt;&lt;include&gt;&gt; UC-02</a:t>
            </a:r>
          </a:p>
          <a:p>
            <a:pPr>
              <a:spcAft>
                <a:spcPts val="600"/>
              </a:spcAft>
              <a:defRPr sz="1600">
                <a:solidFill>
                  <a:srgbClr val="1D1616"/>
                </a:solidFill>
                <a:latin typeface="Calibri"/>
              </a:defRPr>
            </a:pPr>
            <a:r>
              <a:t>UC-07 &lt;&lt;include&gt;&gt; UC-06</a:t>
            </a:r>
          </a:p>
          <a:p>
            <a:pPr>
              <a:spcAft>
                <a:spcPts val="600"/>
              </a:spcAft>
              <a:defRPr sz="1600">
                <a:solidFill>
                  <a:srgbClr val="1D1616"/>
                </a:solidFill>
                <a:latin typeface="Calibri"/>
              </a:defRPr>
            </a:pPr>
            <a:r>
              <a:t>UC-08 &lt;&lt;include&gt;&gt; UC-02</a:t>
            </a:r>
          </a:p>
          <a:p>
            <a:pPr>
              <a:spcAft>
                <a:spcPts val="600"/>
              </a:spcAft>
              <a:defRPr sz="1600">
                <a:solidFill>
                  <a:srgbClr val="1D1616"/>
                </a:solidFill>
                <a:latin typeface="Calibri"/>
              </a:defRPr>
            </a:pPr>
            <a:r>
              <a:t>UC-10 &lt;&lt;include&gt;&gt; UC-09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Functional Requirements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286000"/>
                <a:gridCol w="1188720"/>
                <a:gridCol w="7315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Kode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Nama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Aktor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Deskripsi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Registrasi Akun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Form registrasi, validasi input, hash password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FR-02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Login Akun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Autentikasi session-based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Melihat &amp; Menyaring Produk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Grid produk + filter kategori + search bar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FR-04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Melihat Detail Produk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Info lengkap: gambar, harga, deskripsi, badge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Mengelola Keranjang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Tambah/ubah/hapus via session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FR-06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Melakukan Checkout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Form + location picker + pilih metode bayar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Konfirmasi Pembayaran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Instruksi bayar sesuai metode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FR-08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Riwayat Pesanan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Daftar pesanan terurut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Login &amp; Dashboard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Login khusus + statistik toko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FR-10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Mengelola Produk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CRUD produk + upload gambar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Class Diagram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029200"/>
                <a:gridCol w="438912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Entity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Attributes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Relasi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id, name, email, password, is_admin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1:N → Order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id, name, slug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1:N → Product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id, name, description, price,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category_id, image, is_best_seller,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is_new_arrival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N:1 ← Category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1:N → OrderItem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Order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id, user_id, order_number,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shipping_*, payment_method,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payment_status, total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N:1 ← User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1:N → OrderItem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OrderItem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id, order_id, product_id,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product_name, quantity, price,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subtotal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N:1 ← Order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N:1 ← Product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B5563"/>
                </a:solidFill>
                <a:latin typeface="Calibri"/>
              </a:defRPr>
            </a:pPr>
            <a:r>
              <a:t>Cart: Session-based (disimpan di tabel sessions Laravel, tanpa entity terpisah)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Sequence Diagram Terpenting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4040"/>
                </a:solidFill>
                <a:latin typeface="Calibri"/>
              </a:defRPr>
            </a:pPr>
            <a:r>
              <a:t>1. UC-06: Melakukan Checkout (paling kompleks)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Actor -&gt; Form Checkout: Isi data pengiriman + pilih lokasi di map (Leaflet)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Form -&gt; Controller POST /checkout: processOrder(request)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Model: validasi input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Model: User::find(auth()-&gt;id)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Model: Order::create($data)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Model: loop tiap item session cart: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    Model: OrderItem::create($item)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Model -&gt; DB: INSERT orders + order_items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Session: hapus cart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View: redirect ke payment-confirmation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4040"/>
                </a:solidFill>
                <a:latin typeface="Calibri"/>
              </a:defRPr>
            </a:pPr>
            <a:r>
              <a:t>2. UC-10: Mengelola Produk (Admin)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Actor -&gt; Form: Isi data + upload gambar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Form -&gt; Controller POST /admin/products: store(request)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Model: validasi request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Storage: upload gambar ke storage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Model -&gt; DB: INSERT products</a:t>
            </a:r>
          </a:p>
          <a:p>
            <a:pPr>
              <a:spcAft>
                <a:spcPts val="4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View: redirect ke daftar produk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4040"/>
                </a:solidFill>
                <a:latin typeface="Calibri"/>
              </a:defRPr>
            </a:pPr>
            <a:r>
              <a:t>3. UC-03: Melihat &amp; Menyaring Produk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Actor -&gt; Browser: Buka /products</a:t>
            </a:r>
          </a:p>
          <a:p>
            <a:pPr>
              <a:spcAft>
                <a:spcPts val="3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Browser -&gt; Controller GET /products: index(request)</a:t>
            </a:r>
          </a:p>
          <a:p>
            <a:pPr>
              <a:spcAft>
                <a:spcPts val="3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Model: Product::with("category")</a:t>
            </a:r>
          </a:p>
          <a:p>
            <a:pPr>
              <a:spcAft>
                <a:spcPts val="3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Model -&gt; DB: SELECT + WHERE category = ?</a:t>
            </a:r>
          </a:p>
          <a:p>
            <a:pPr>
              <a:spcAft>
                <a:spcPts val="3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           + WHERE name LIKE %search%</a:t>
            </a:r>
          </a:p>
          <a:p>
            <a:pPr>
              <a:spcAft>
                <a:spcPts val="300"/>
              </a:spcAft>
              <a:defRPr sz="1300">
                <a:solidFill>
                  <a:srgbClr val="1D1616"/>
                </a:solidFill>
                <a:latin typeface="Calibri"/>
              </a:defRPr>
            </a:pPr>
            <a:r>
              <a:t>Controller -&gt; View: products.blade.php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Arsitektur MVC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011680" cy="1097280"/>
          </a:xfrm>
          <a:prstGeom prst="round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Browser</a:t>
            </a:r>
            <a:br/>
            <a:r>
              <a:t>(Blade + Tailwind)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2011680" cy="1097280"/>
          </a:xfrm>
          <a:prstGeom prst="roundRect">
            <a:avLst/>
          </a:prstGeom>
          <a:solidFill>
            <a:srgbClr val="8E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Router</a:t>
            </a:r>
            <a:br/>
            <a:r>
              <a:t>web.php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2011680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Controller</a:t>
            </a:r>
            <a:br/>
            <a:r>
              <a:t>(Logic)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828800"/>
            <a:ext cx="2011680" cy="1097280"/>
          </a:xfrm>
          <a:prstGeom prst="roundRect">
            <a:avLst/>
          </a:prstGeom>
          <a:solidFill>
            <a:srgbClr val="059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Model</a:t>
            </a:r>
            <a:br/>
            <a:r>
              <a:t>(Eloquent ORM)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828800"/>
            <a:ext cx="2011680" cy="10972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000"/>
              </a:spcBef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Database</a:t>
            </a:r>
            <a:br/>
            <a:r>
              <a:t>(MySQL)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B5563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200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↑</a:t>
            </a:r>
            <a:br/>
            <a:r>
              <a:t>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Alur:</a:t>
            </a:r>
            <a:br/>
            <a:r>
              <a:t>1. Browser mengirim HTTP request ke Laravel</a:t>
            </a:r>
            <a:br/>
            <a:r>
              <a:t>2. Router (web.php) mencocokkan URL ke Controller</a:t>
            </a:r>
            <a:br/>
            <a:r>
              <a:t>3. Controller memproses logika bisnis</a:t>
            </a:r>
            <a:br/>
            <a:r>
              <a:t>4. Model berinteraksi dengan database via Eloquent ORM</a:t>
            </a:r>
            <a:br/>
            <a:r>
              <a:t>5. Controller merender View (Blade + Tailwind) → dikirim ke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Database Schema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84632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Tabel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Fungsi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Relasi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Data customer &amp; admin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(flag is_admin)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PK di order.user_id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categories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Kategori produk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(Vape / Liquid)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PK di product.category_id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Produk: gambar, harga, deskripsi,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badge best_seller / new_arrival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FK → categories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PK di order_item.product_id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Pesanan + data pengiriman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+ koordinat latitude/longitude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FK → users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PK di order_item.order_id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order_items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Item per pesanan (snapshot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nama &amp; harga saat checkout)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FK → orders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FK → products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sessions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Cart session</a:t>
                      </a:r>
                    </a:p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(Laravel session database)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Halaman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4040"/>
                </a:solidFill>
                <a:latin typeface="Calibri"/>
              </a:defRPr>
            </a:pPr>
            <a:r>
              <a:t>Customer (8 halaman)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1. Beranda (/) — Hero, Best Seller, New Arrival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2. Katalog (/products) — Grid + filter + search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3. Detail Produk (/products/{id})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4. Keranjang (/cart) — Daftar item + total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5. Checkout (/checkout) — Form + Leaflet map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6. Konfirmasi Bayar (/orders/{id}/payment-confirmation)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7. Riwayat Pesanan (/orders)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8. Login / 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4040"/>
                </a:solidFill>
                <a:latin typeface="Calibri"/>
              </a:defRPr>
            </a:pPr>
            <a:r>
              <a:t>Admin (4 halaman)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1. Login Admin (/admin/login)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2. Dashboard (/admin) — Statistik toko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3. Daftar Produk (/admin/products)</a:t>
            </a:r>
          </a:p>
          <a:p>
            <a:pPr>
              <a:spcAft>
                <a:spcPts val="400"/>
              </a:spcAft>
              <a:defRPr sz="1400">
                <a:solidFill>
                  <a:srgbClr val="1D1616"/>
                </a:solidFill>
                <a:latin typeface="Calibri"/>
              </a:defRPr>
            </a:pPr>
            <a:r>
              <a:t>4. Tambah / Edit Produk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47120" cy="54864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Fitur Unggulan: Location Picker Leaflet.js + OpenStreetMap pada halaman Checkout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404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1616"/>
                </a:solidFill>
                <a:latin typeface="Calibri"/>
              </a:defRPr>
            </a:pPr>
            <a:r>
              <a:t>Demo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777240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Skenario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Durasi</a:t>
                      </a:r>
                    </a:p>
                  </a:txBody>
                  <a:tcPr>
                    <a:solidFill>
                      <a:srgbClr val="D8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Home — Best seller &amp; new arrival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30 detik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Katalog + Search — Filter Vape/Liquid, cari produk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45 detik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Detail Produk — Klik produk, lihat info lengkap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30 detik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Register + Login — Buat akun baru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45 detik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Keranjang — Tambah 2 produk, ubah 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45 detik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Checkout — Location picker Leaflet ★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1 menit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Konfirmasi Bayar — Instruksi transfer / QRIS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30 detik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Admin Panel — Login, dashboard, tambah produk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D1616"/>
                          </a:solidFill>
                          <a:latin typeface="Calibri"/>
                        </a:defRPr>
                      </a:pPr>
                      <a:r>
                        <a:t>1 menit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669280"/>
            <a:ext cx="10698480" cy="54864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84040"/>
                </a:solidFill>
                <a:latin typeface="Calibri"/>
              </a:defRPr>
            </a:pPr>
            <a:r>
              <a:t>★ Highlight: Location picker Leaflet.js — fitur paling unik dari aplikasi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D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LiquidPedia | ABP - Telkom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84040"/>
                </a:solidFill>
                <a:latin typeface="Calibri"/>
              </a:defRPr>
            </a:pPr>
            <a:r>
              <a:t>Kesimpulan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2743200" cy="54864"/>
          </a:xfrm>
          <a:prstGeom prst="rect">
            <a:avLst/>
          </a:prstGeom>
          <a:solidFill>
            <a:srgbClr val="D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D1616"/>
                </a:solidFill>
                <a:latin typeface="Calibri"/>
              </a:defRPr>
            </a:pPr>
            <a:r>
              <a:t>Aplikasi e-commerce liquid &amp; vape berbasis Laravel web</a:t>
            </a:r>
          </a:p>
          <a:p>
            <a:pPr>
              <a:spcAft>
                <a:spcPts val="1000"/>
              </a:spcAft>
              <a:defRPr sz="1800">
                <a:solidFill>
                  <a:srgbClr val="1D1616"/>
                </a:solidFill>
                <a:latin typeface="Calibri"/>
              </a:defRPr>
            </a:pPr>
            <a:r>
              <a:t>10 use cases mencakup kebutuhan Customer dan Admin</a:t>
            </a:r>
          </a:p>
          <a:p>
            <a:pPr>
              <a:spcAft>
                <a:spcPts val="1000"/>
              </a:spcAft>
              <a:defRPr sz="1800">
                <a:solidFill>
                  <a:srgbClr val="1D1616"/>
                </a:solidFill>
                <a:latin typeface="Calibri"/>
              </a:defRPr>
            </a:pPr>
            <a:r>
              <a:t>MVC architecture dengan session-based cart</a:t>
            </a:r>
          </a:p>
          <a:p>
            <a:pPr>
              <a:spcAft>
                <a:spcPts val="1000"/>
              </a:spcAft>
              <a:defRPr sz="1800">
                <a:solidFill>
                  <a:srgbClr val="1D1616"/>
                </a:solidFill>
                <a:latin typeface="Calibri"/>
              </a:defRPr>
            </a:pPr>
            <a:r>
              <a:t>Fitur unggulan: Leaflet location picker, filter + search, CRUD produk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5486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D1616"/>
                </a:solidFill>
                <a:latin typeface="Calibri"/>
              </a:defRPr>
            </a:pPr>
            <a:r>
              <a:t>Link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84040"/>
                </a:solidFill>
                <a:latin typeface="Calibri"/>
              </a:defRPr>
            </a:pPr>
            <a:r>
              <a:t>github.com/notsorcerer/ABP-WEB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D1616"/>
                </a:solidFill>
                <a:latin typeface="Calibri"/>
              </a:defRPr>
            </a:pPr>
            <a:r>
              <a:t>Terima Kasih  |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